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64592" cy="663854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0" y="109728"/>
            <a:ext cx="164592" cy="663854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365760"/>
            <a:ext cx="13716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365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KB Translation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D700"/>
                </a:solidFill>
              </a:rPr>
              <a:t>End-to-End Offline Dubbing for All 22 Scheduled Indian 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070C0"/>
                </a:solidFill>
              </a:rPr>
              <a:t>iGOT Karmayogi  |  RFB IN-KBL-543730-NC-RFB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206240"/>
            <a:ext cx="7616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ASR  →  Translation  →  TTS  |  100% Offline  |  No API Keys  |  No Data Leaves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faster-whisper  ·  IndicTrans2  ·  SeamlessM4T  ·  NLLB-200  ·  Parler-TTS  ·  MMS-TTS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349240"/>
            <a:ext cx="210312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49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22 Languages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5349240"/>
            <a:ext cx="2103120" cy="5029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5349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100% Offline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5349240"/>
            <a:ext cx="2103120" cy="5029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5349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GPU Accelerated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349240"/>
            <a:ext cx="2103120" cy="5029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349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KB Tender Compliant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Presented by: Translation Agency  |  Contract Period: 11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7" y="960120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Project Overview &amp; 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8191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1581912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73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Cost Savings — AI vs Manual Dubbing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03704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203704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2203704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2951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22 Languages — India Coverage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25496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82549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7" y="2825496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169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System Architecture &amp; Pipeline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47288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44728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7" y="3447288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38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ASR — Speech Recognition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69080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06908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7" y="4069080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Translation Engine Routing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90872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69087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7" y="4690872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823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TTS Engine &amp; Voice Cloning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312664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312664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7" y="5312664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041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Key Safety &amp; Quality Features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934456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93445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7" y="5934456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60258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Web UI — 8 Tabs Walkthrough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960120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96012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84848" y="960120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CLI Usage &amp; Commands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1581912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158191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581912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673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Fine-Tuning &amp; Translation Memory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203704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2203704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84848" y="2203704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22951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Output Structure &amp; Quality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825496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282549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84848" y="2825496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29169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Live Output Sample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3447288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344728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84848" y="3447288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538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Delivery Timeline — 11 Months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4069080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406908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84848" y="4069080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4160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Models &amp; Deployment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4690872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4690872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84848" y="4690872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0" y="47823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KB Tender Compliance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5312664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5312664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84848" y="5312664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0" y="54041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Team &amp; Support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5934456"/>
            <a:ext cx="475488" cy="5303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593445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84848" y="5934456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0" y="60258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Thank You &amp; Q&amp;A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Why India needs this system —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09728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332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051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22 Languages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50876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iGOT Karmayogi serves 2 crore+ civil servants. All training content must be available in all 22 constitutionally scheduled Indian languages.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109728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0332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051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Prohibitive Manual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0876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Manual dubbing: ₹5,000–₹15,000 per minute per language. 1,105 hours × 22 languages = ₹145–₹436 crore at manual rates.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889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88920"/>
            <a:ext cx="109728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8620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Data Sovereignty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33756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Government training content cannot leave Indian servers. No OpenAI, Google, or AWS API calls allowed — full on-premise requirement.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7889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788920"/>
            <a:ext cx="109728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8620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Offline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33756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Government data centres have low/no internet connectivity. The entire AI pipeline must run without any internet dependency.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617720"/>
            <a:ext cx="109728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6908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091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98% Accuracy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16635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KB tender §5.1B mandates 98% linguistic accuracy with self-certification QA reports per course per language before payment.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17720"/>
            <a:ext cx="56692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617720"/>
            <a:ext cx="109728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6908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70915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Scale: 24,310 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16635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1,105 hours of content × 22 languages = 24,310 dubbed hours needed within 11-month contract. Manual dubbing cannot meet this timeline.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Cost Savings — AI vs Manual Dubbing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The economic case for the KB Translation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51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₹145–436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Manual dubbing cost
(1,105 hrs × 22 langs)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051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~₹2–4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 system total cost
(infra + models + ops)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2743200" cy="1828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99%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Cost reduction
vs manual dubbing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960120"/>
            <a:ext cx="2743200" cy="182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051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11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Full delivery
vs 5+ years manual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11612880" cy="38404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2999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Manual Dubbing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999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KB AI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999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Saving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01568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4655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Cost per minute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34655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₹5,000–15,000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4655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~₹15–30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34655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33"/>
                </a:solidFill>
              </a:rPr>
              <a:t>99%+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77056"/>
            <a:ext cx="1161288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410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Time for 1 hour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3552" y="39410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3–5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39410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2–4 hours (GPU)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9410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33"/>
                </a:solidFill>
              </a:rPr>
              <a:t>95%+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52544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22 languages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3552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22 separate vendors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 pipeline 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33"/>
                </a:solidFill>
              </a:rPr>
              <a:t>Single workflow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28032"/>
            <a:ext cx="1161288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92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Quality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4892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Manual review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4892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Auto + human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4892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33"/>
                </a:solidFill>
              </a:rPr>
              <a:t>Faster + auditable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03520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367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Data security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3552" y="5367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External vendors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5367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100% on-premise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89136" y="5367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33"/>
                </a:solidFill>
              </a:rPr>
              <a:t>Full sovereignty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779008"/>
            <a:ext cx="1161288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8430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Scalability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58430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Linear cost growth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1344" y="58430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Near-zero marginal cost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89136" y="58430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33"/>
                </a:solidFill>
              </a:rPr>
              <a:t>Unlimited scale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22 Scheduled Indian Languages — Full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Every constitutionally recognised language supported in one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1874519" cy="135331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0149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80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hin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50 Cr speakers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2" y="960120"/>
            <a:ext cx="1874519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5144" y="10149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Bengali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5144" y="1380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Bengali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5144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10 Cr speakers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960120"/>
            <a:ext cx="1874519" cy="135331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0149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Telugu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1380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Telugu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8.1 Cr speakers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960120"/>
            <a:ext cx="1874519" cy="135331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10149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Marathi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1380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8.3 Cr speakers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2168" y="960120"/>
            <a:ext cx="1874519" cy="135331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0149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Tamil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380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tam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Tamil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6.9 Cr speakers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95560" y="960120"/>
            <a:ext cx="1874519" cy="1353312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712" y="10149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Gujarati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1380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guj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Gujarati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68712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5.5 Cr speakers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441448"/>
            <a:ext cx="1874519" cy="135331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Kannada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" y="2862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kan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" y="3136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Kannada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4.4 Cr speakers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21992" y="2441448"/>
            <a:ext cx="1874519" cy="13533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95144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Malayalam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5144" y="2862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mal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95144" y="3136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Malayalam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95144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3.5 Cr speakers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5384" y="2441448"/>
            <a:ext cx="1874519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8536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Odia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88536" y="2862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88536" y="3136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Odia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8536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3.7 Cr speakers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8776" y="2441448"/>
            <a:ext cx="1874519" cy="135331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Punjabi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1928" y="2862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pan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81928" y="3136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Gurmukhi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81928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3.3 Cr speakers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02168" y="2441448"/>
            <a:ext cx="1874519" cy="135331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Assamese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2862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asm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3136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Bengali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1.5 Cr speakers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2441448"/>
            <a:ext cx="1874519" cy="1353312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68712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Urdu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68712" y="28620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urd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8712" y="3136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Nastaliq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8712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5.1 Cr speakers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922776"/>
            <a:ext cx="1874519" cy="135331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1752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Nepali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nep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" y="4617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" y="4928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0.3 Cr speakers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21992" y="3922776"/>
            <a:ext cx="1874519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95144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Maithili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95144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mai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95144" y="4617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95144" y="4928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1.3 Cr speakers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15384" y="3922776"/>
            <a:ext cx="1874519" cy="135331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88536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Dogri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8536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doi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88536" y="4617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88536" y="4928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0.3 Cr speakers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08776" y="3922776"/>
            <a:ext cx="1874519" cy="135331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81928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Bodo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81928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bod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81928" y="4617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81928" y="4928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0.15 Cr speakers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3922776"/>
            <a:ext cx="1874519" cy="1353312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75320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Konkani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75320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kok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75320" y="4617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75320" y="4928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0.23 Cr speakers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95560" y="3922776"/>
            <a:ext cx="1874519" cy="135331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68712" y="39776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Manipuri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68712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mni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68712" y="46177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Bengali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68712" y="4928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0.18 Cr speakers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5404104"/>
            <a:ext cx="1874519" cy="13533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1752" y="5458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Sanskrit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1752" y="58247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san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1752" y="6099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Devanagari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1752" y="64099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0.02 Cr speakers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21992" y="5404104"/>
            <a:ext cx="1874519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95144" y="5458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Santhali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95144" y="58247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sat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95144" y="6099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Ol Chiki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95144" y="64099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0.73 Cr speakers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15384" y="5404104"/>
            <a:ext cx="1874519" cy="135331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88536" y="5458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Kashmiri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88536" y="58247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kas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88536" y="6099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Nastaliq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88536" y="64099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0.68 Cr speakers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08776" y="5404104"/>
            <a:ext cx="1874519" cy="135331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81928" y="5458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Sindhi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81928" y="58247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snd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1928" y="6099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Nastaliq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81928" y="64099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0.27 Cr speakers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 Pipeline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From raw video to dubbed MP4 — fully automated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657600" cy="2468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149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0149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Audio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5087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ffmpeg → 16kHz mono WAV
Stale cache detection
MP4/MP3/WAV/MKV/AVI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7451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94E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960120"/>
            <a:ext cx="3657600" cy="246888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960120"/>
            <a:ext cx="3657600" cy="457200"/>
          </a:xfrm>
          <a:prstGeom prst="rect">
            <a:avLst/>
          </a:prstGeom>
          <a:solidFill>
            <a:srgbClr val="0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0149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0149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S2ST Fast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5087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SeamlessM4T Speech-to-Speech
Indic→Indic pairs only
Skips ASR+TTS if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87451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94E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60120"/>
            <a:ext cx="3657600" cy="246888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960120"/>
            <a:ext cx="3657600" cy="457200"/>
          </a:xfrm>
          <a:prstGeom prst="rect">
            <a:avLst/>
          </a:prstGeom>
          <a:solidFill>
            <a:srgbClr val="04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0149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0149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ASR Transcription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5087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faster-whisper large-v3
Sentence-level timestamps
Hallucination guard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57600"/>
            <a:ext cx="3657600" cy="2468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657600"/>
            <a:ext cx="3657600" cy="457200"/>
          </a:xfrm>
          <a:prstGeom prst="rect">
            <a:avLst/>
          </a:prstGeom>
          <a:solidFill>
            <a:srgbClr val="CC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1246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71246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20624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IndicTrans2 GPU batch
Glossary injection
Quality score per segment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657600"/>
            <a:ext cx="3657600" cy="24688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657600"/>
            <a:ext cx="3657600" cy="457200"/>
          </a:xfrm>
          <a:prstGeom prst="rect">
            <a:avLst/>
          </a:prstGeom>
          <a:solidFill>
            <a:srgbClr val="4A0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399" y="371246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71246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TTS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20624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Parler-TTS Large → MMS
Per-segment WAV files
Voice cloning optional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57600"/>
            <a:ext cx="3657600" cy="24688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657600"/>
            <a:ext cx="3657600" cy="457200"/>
          </a:xfrm>
          <a:prstGeom prst="rect">
            <a:avLst/>
          </a:prstGeom>
          <a:solidFill>
            <a:srgbClr val="005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71246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5+6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71246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Assemble &amp;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20624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Fit-to-slot (max 1.35×)
SRT+VTT subtitles
ffmpeg mux → MP4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All components run locally — zero external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1920240" cy="2926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058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46304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MP4 / MP3
WAV / MKV
DOCX / TXT
JSON Quiz
Audio WAV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896112"/>
            <a:ext cx="7406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896112"/>
            <a:ext cx="7406640" cy="41148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9144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DUBBING PIPELINE  (dubbing_pipeline.py)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417320"/>
            <a:ext cx="1600200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79" y="167335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ASR Engine
asr.py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417320"/>
            <a:ext cx="1600200" cy="13258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67335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Translator
translator.py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417320"/>
            <a:ext cx="1600200" cy="1325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67335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TTS Engine
tts.py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417320"/>
            <a:ext cx="1600200" cy="13258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67335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VideoProcessor
video_processor.py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926080"/>
            <a:ext cx="1600200" cy="132588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79" y="318211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Glossary
glossary.py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926080"/>
            <a:ext cx="1600200" cy="13258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18211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Quality
quality.py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2926080"/>
            <a:ext cx="1600200" cy="13258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18211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Subtitles
subtitles.py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926080"/>
            <a:ext cx="1600200" cy="1325880"/>
          </a:xfrm>
          <a:prstGeom prst="rect">
            <a:avLst/>
          </a:prstGeom>
          <a:solidFill>
            <a:srgbClr val="2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182112"/>
            <a:ext cx="1508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Checkpoint
retry.py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960120"/>
            <a:ext cx="2103120" cy="29260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10058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146304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MP4 dubbed
SRT / VTT
Metadata JSON
QA Cert DOCX
Quiz DOCX/XLSX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94E"/>
                </a:solidFill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94E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315968"/>
            <a:ext cx="7406640" cy="14630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4315968"/>
            <a:ext cx="7406640" cy="320040"/>
          </a:xfrm>
          <a:prstGeom prst="rect">
            <a:avLst/>
          </a:prstGeom>
          <a:solidFill>
            <a:srgbClr val="C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33425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Supporting Systems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4681728"/>
            <a:ext cx="1691640" cy="10058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468172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TranslationMemory
(85% fuzzy match)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681728"/>
            <a:ext cx="1691640" cy="10058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468172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LLM Enhancer
(Groq/Gemini opt.)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681728"/>
            <a:ext cx="1691640" cy="10058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68172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CBP Uploader
(portal auto-upload)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681728"/>
            <a:ext cx="1691640" cy="10058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681728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Logger
(JSON audit trail)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ASR — Speech Recognition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faster-whisper large-v3  ·  Single model  ·  All 22 languages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474720" cy="5303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Engine: faster-whisper large-v3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0136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Size: ~3 GB (CT2 quantized)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969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Precision: float16 (GPU) / int8 (CPU)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7802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Beam size: 5 (Devanagari langs)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1635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Beam size: 2 (all other scripts)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VAD: min_silence 500ms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9300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Word timestamps: enabled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31335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condition_on_previous: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966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Temperature fallback: [0, 0.2, 0.4]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0799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no_speech_threshold: 0.45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4632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Auto language detection: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8464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Nastaliq normalisation: Urdu/Kas/Snd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22975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Hallucination stripping: all scripts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6130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Segment merging: sentence-level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960120"/>
            <a:ext cx="38404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960120"/>
            <a:ext cx="91440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1051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Hallucination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146304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condition_on_previous_text=False prevents looping. Multi-temperature fallback [0.0, 0.2, 0.4] breaks repetition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960120"/>
            <a:ext cx="38404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960120"/>
            <a:ext cx="91440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1051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Smart Segment Merging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146304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Devanagari: min 10 words, max 20s. Dravidian: min 5 words, max 8s. Never splits mid-sentence — dangling prepositions trigger merge.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2743200"/>
            <a:ext cx="38404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2743200"/>
            <a:ext cx="91440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6511" y="28346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Nastaliq Normalisation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1" y="324612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Arabic kaf→Urdu kaf, Arabic ya→Urdu ya, ta marbuta→ta. Fixes common ASR output inconsistencies for Urdu/Kashmiri/Sindhi.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743200"/>
            <a:ext cx="38404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2743200"/>
            <a:ext cx="91440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28346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Hallucination Stripping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324612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Strips छे/चे Devanagari boundary artifacts, English nonsense tokens (Wanner/Guinevere), leading combining marks (ँ ं ः).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526280"/>
            <a:ext cx="38404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31920" y="4526280"/>
            <a:ext cx="91440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96511" y="4617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Stale Cache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6511" y="502920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source.wav re-extracted if input video is newer than cached WAV. ASR checkpoint cleared so transcription re-runs on updated source.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4526280"/>
            <a:ext cx="384048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4526280"/>
            <a:ext cx="91440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617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Language Auto-Detect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502920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Pass lang='auto' to detect source language from audio. Resolved language stored in checkpoint for translation routing.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Translation Engine Routing — 22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IndicTrans2  →  SeamlessM4T  →  NLLB-200  fallback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749039" cy="2651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IndicTrans2
(Primary)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en_indic / indic_en / indic_indic
Fine-tuned checkpoints auto-used
GPU batch — one forward pass
~1.2 GB per direction
Flores-200 language codes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26517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024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SeamlessM4T
(Fallback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SeamlessM4Tv2 Large
Text-to-text + Speech-to-Speech
Manipuri (mni) primary engine
~10 GB · float16 on GPU
S2ST: hin↔ben↔kan↔tel↔urd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749039" cy="26517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024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NLLB-200
(Fallback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facebook/nllb-200-distilled-600M
Kashmiri/Sindhi/Konkani primary
~2.4 GB · float16 on GPU
All 22 languages supported
Drift retry engine for hin/mai/bod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67328"/>
            <a:ext cx="11612880" cy="3657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Fallback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Fallback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Special Note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78808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336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hin ben tam tel kan mal mar guj pan ory asm urd nep mai doi bod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8336" y="42336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IndicTrans2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2336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SeamlessM4T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2336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NLLB-200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4" y="423367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Fine-tuned ckpt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20"/>
            <a:ext cx="1161288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6725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mni (Manipuri)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46725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SeamlessM4T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46725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IndicTrans2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46725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NLLB-200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46725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Seamless-first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56632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1114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sat (Santhali)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8336" y="51114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IndicTrans2 pivot via Hindi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51114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NLLB-200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51114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51114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Hindi pivot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95544"/>
            <a:ext cx="1161288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550407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kas snd (Arabic script)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88336" y="5550407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NLLB-200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5550407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SeamlessM4T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5550407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064" y="5550407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NLLB-first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934456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98932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kok (Konkani)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8336" y="598932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NLLB-200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598932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IndicTrans2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598932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6064" y="598932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Devanagari drift guard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373368"/>
            <a:ext cx="1161288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4282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S2ST pairs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8336" y="64282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SeamlessM4T direct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10912" y="64282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3488" y="64282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6064" y="64282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hin↔ben↔kan↔tel↔urd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TTS Engine Routing &amp; Voice Cloning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Parler-TTS Large  →  MMS-VITS  →  XTTS-v2  fallback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749039" cy="2834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Parler-TTS
Indic Large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Primary: Devanagari family
(hin mar nep mai san)
44kHz · GPU batch · float16
Fixed seed 42 — consistent voice
Encoder pre-computed once
~3.6 GB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28346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024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MMS-TTS
Standalone VITS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Primary: Dravidian + Bengali
(tam tel kan mal ben asm pan guj ory)
Per-language VITS models
noise_scale=0.3 (consistent pacing)
RNG pinned post-warmup
Chunk split at sentence boundaries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749039" cy="28346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024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Coqui XTTS-v2
(Voice Clone)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Last-resort fallback
Also used for voice cloning
Supported: hin ben guj mar
tam tel kan mal pan urd
Apache 2.0 — fully offline
KB Tier 2 pricing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77639"/>
            <a:ext cx="56692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977639"/>
            <a:ext cx="91440" cy="11155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40507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Voice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41655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Single seed 42 for ALL languages. Encoder pre-computed once per video. RNG advances naturally — never reset. One voice throughout entire video.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77639"/>
            <a:ext cx="56692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77639"/>
            <a:ext cx="91440" cy="11155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0507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Fit-to-Slot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41655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TTS audio sped up max 1.35× to fit original timestamp slot. Hard-trimmed if still over. Silence padded if shorter than slot.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12079"/>
            <a:ext cx="56692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212079"/>
            <a:ext cx="91440" cy="11155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52852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Post-Processing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56509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High-pass 80Hz (removes DC/rumble). Low-pass 9.5kHz for MMS. Normalize to -3 dBFS (iOS headroom). Leading silence trimmed.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212079"/>
            <a:ext cx="56692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5212079"/>
            <a:ext cx="91440" cy="11155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52852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Voice Cloning 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6509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python scripts/dub.py --video course.mp4 --src eng --tgt hin
--voice-clone --reference-audio speaker.wav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Safety &amp; Quality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Enterprise-grade guards built into every step of the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Checkpoint/Resume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990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Crash mid-job resumes from last completed segment. ASR cached once for all 22 languages.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6012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96012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1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Factual Token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3990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Numbers, dates, currency replaced with __F0__ before translation. Verified and restored after.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96012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96012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Format Token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3990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{name} %s ${var} {{jinja}} replaced with __FMT0__. Template strings never broken.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42316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42316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496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Non-Translatable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286207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URLs, paths, code, @mentions passed through unchanged. 90%+ non-translatable = skip engine.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42316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242316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2496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Drift Guards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1" y="286207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Maithili drift in Hindi: 2+ markers → NLLB retry. Hindi drift in Maithili: 3+ markers → NLLB retry.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42316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242316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2496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Final Quality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86207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10-rule FQC: Accuracy · Completeness · Grammar · Fluency · Consistency · Corruption-free · Placeholder-free · Mixed-lang · Formatting · Professional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88620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88620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959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Exclusion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" y="43251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PM/President speeches and YouTube-only content blocked per KB tender §3.1.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88620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88620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1" y="3959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Duration Ratio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1" y="43251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Dubbed output &gt;20% longer than original triggers KB approval warning (§5.1B).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388620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388620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1" y="3959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Concurrent Job Lock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43251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Per-(course_id, lang) threading lock prevents duplicate jobs overwriting each other.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34924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534924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5422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Audit Trail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" y="5788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Every job start/success/failure written to audit.log as structured JSON with model versions.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534924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534924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1" y="5422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Completeness Guard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1" y="5788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Batch output count must match input. Empty translation triggers per-segment retry.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5349240"/>
            <a:ext cx="3749039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83879" y="5349240"/>
            <a:ext cx="91440" cy="1353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8471" y="5422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Mixed-Lang Cleaning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1" y="5788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Foreign script runs stripped. Short Latin words (≤15 chars) preserved as technical terms.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Web UI — 8 Tabs  (Gradio)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python ui/app.py  →  http://localhost:7860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02920" cy="12984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075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051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Dub Video / 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3560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Upload MP4/MP3, select source &amp; target languages (single or all 22). Real-time progress. Download dubbed MP4 + SRT + VTT.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502920" cy="129844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075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051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Translate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3560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Translate DOCX/TXT/JSON quiz &amp; metadata. Format-preserving. PDF blocked per KB §3.1. Output as DOCX/XLSX.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377440"/>
            <a:ext cx="502920" cy="129844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7249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468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QA 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5292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Generate self-certification QA report (.docx) per course per language. Heuristic + ChrF + back-translation scores + checklist.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7744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377440"/>
            <a:ext cx="502920" cy="129844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7249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468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Human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85292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Approve/correct/reject individual segments. Export review certificate. Corrections saved to translation_memory/human_feedback.jsonl.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9476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794760"/>
            <a:ext cx="502920" cy="1298448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1422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886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27024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Configure HF token, output folder, LLM API keys (optional). All settings stored in .env — works fully offline without LLM.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94760"/>
            <a:ext cx="502920" cy="129844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1422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886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Monthly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27024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Track hours delivered per month. Export submission reports (.xlsx). KB tender payment milestone tracking (11-month schedule).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1208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212080"/>
            <a:ext cx="502920" cy="129844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5595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Glossary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68756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Build &amp; export standardised terminology glossary (.xlsx). 22 × JSON glossary files. Domain terms protected throughout.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212080"/>
            <a:ext cx="566928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5212080"/>
            <a:ext cx="502920" cy="1298448"/>
          </a:xfrm>
          <a:prstGeom prst="rect">
            <a:avLst/>
          </a:prstGeom>
          <a:solidFill>
            <a:srgbClr val="2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55955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Live 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687568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Real-time pipeline log stream (auto-refresh every 3 seconds). Shows ASR progress, translation engine, TTS status, quality scores.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CLI Usage &amp;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scripts/dub.py  ·  scripts/translate.py  ·  scripts/translation_memory.py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Single Language Dub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--video course.mp4 --src eng --tgt hin --course-id MyCourse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60120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All 22 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3075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--video course.mp4 --src eng --tgt all --course-id MyCourse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856232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1856232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Force Re-run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--video course.mp4 --src eng --tgt hin --force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56232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56232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Multi-GPU (4 GPUs)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037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--video course.mp4 --src eng --tgt all --num-gpus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752344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752344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9806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Voice Cloning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0998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--video course.mp4 --src eng --tgt hin --voice-clone --reference-audio spk.wav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752344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752344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79806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Full 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0998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--video course.mp4 --src eng --tgt all --full --metadata meta.json --quiz quiz.json --upload-cbp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648456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648456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94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Text Translation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9959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scripts/translate.py --text "Hello" --src eng --tgt hin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48456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648456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694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Batch Translation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9959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scripts/translate.py --batch input.txt --src eng --tgt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544568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" y="4544568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590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Audio Translation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8920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scripts/translate.py --audio speech.wav --src hin --tgt ben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544568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544568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590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Monthly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8920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scripts/dub.py --run-monthly-report --monthly-report results.json --month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5440680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00" y="5440680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Add TM Entry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788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scripts/translation_memory.py add --src "Competency Framework" --tgt "dakshata dhanca" --tgt-lang hin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440680"/>
            <a:ext cx="57607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440680"/>
            <a:ext cx="731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</a:rPr>
              <a:t>Download Models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788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python scripts/download_models.py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Fine-Tuning &amp; Translation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Custom models + government-verified translations = highest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94960" cy="5303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IndicTrans2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Directions: en_indic / indic_en / indic_indic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accelerate launch --num_processes=4 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751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--mixed_precision=bf16 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311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finetune/finetune_indictrans.py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--direction en_indic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992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Dataset: datasets/parallel/&lt;lang&gt;/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552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train.jsonl / dev.jsonl / test.jsonl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112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{src, tgt, src_lang, tgt_lang}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673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233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Checkpoint: checkpoints/indictrans/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793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en_indic/best/  (auto-used by pipeline)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354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indic_en/best/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9145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indic_indic/best/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0474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035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SeamlessM4T fine-tune: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595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finetune/finetune_seamless.py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8155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Checkpoint: checkpoints/seamless/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716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276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DeepSpeed ZeRO-3: finetune/ds_zero3.json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Recommended: 4× NVIDIA A6000 GPUs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960120"/>
            <a:ext cx="6035040" cy="26060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0058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Translation Memory (TM)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463040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Storage: translation_memory/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71907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govt_tm.jsonl — verified translations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1975104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human_feedback.jsonl — corrections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231136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correction_log.jsonl —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4871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743200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Matching: exact first, then 85% fuzzy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99923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Priority: TM &gt; IndicTrans2 &gt; Seamless &gt; NLLB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255264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511296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CLI: python scripts/translation_memory.py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76732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add / correct / lookup / stats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749039"/>
            <a:ext cx="6035040" cy="25146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37947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Glossary (22 Languages)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2519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Location: glossary/&lt;lang&gt;.json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4805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22 files: hin.json, ben.json, tam.json 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7091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9377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Applied LAST — after all cleaning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1663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Never overwritten by translation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3949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6235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Example: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58521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iGOT Karmayogi → unchanged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60807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Competency Framework → dakshata dhanca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63093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6537960"/>
            <a:ext cx="5760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UI Tab: Glossary — build &amp; export .xlsx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Output Structure &amp; Quality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Per course x per language — all KB tender formats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0292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</a:rPr>
              <a:t>Output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900"/>
                </a:solidFill>
              </a:rPr>
              <a:t>output/&lt;course_id&gt;/&lt;lang_code&gt;/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0078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  &lt;course&gt;_&lt;lang&gt;.mp4    dubbed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  &lt;course&gt;_&lt;lang&gt;.mp3    dubbed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  &lt;course&gt;_&lt;lang&gt;.srt    subtitles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6888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  &lt;course&gt;_&lt;lang&gt;.vtt    web subtitles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249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&lt;course&gt;_&lt;lang&gt;_metadata.json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8094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&lt;course&gt;_&lt;lang&gt;_qa_cert.docx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3697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&lt;course&gt;_quiz_&lt;lang&gt;.docx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930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&lt;course&gt;_quiz_&lt;lang&gt;.xlsx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4904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&lt;course&gt;_metadata_&lt;lang&gt;.docx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960120"/>
            <a:ext cx="6492240" cy="80467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9966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&gt;=0.55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99669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874519"/>
            <a:ext cx="6492240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191109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0.30-0.55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911095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500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Flag for human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788920"/>
            <a:ext cx="6492240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8254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&lt;0.30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82549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2644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Needs correction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794760"/>
            <a:ext cx="649224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3794760"/>
            <a:ext cx="91440" cy="8412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386791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Heuristic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423367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Script check, length ratio, transliteration detection. Fast — zero GPU cost.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754880"/>
            <a:ext cx="649224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4754880"/>
            <a:ext cx="91440" cy="84124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482803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ChrF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519379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Character n-gram F-score. Language-agnostic. Works for all 22 scripts.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5715000"/>
            <a:ext cx="649224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5715000"/>
            <a:ext cx="91440" cy="84124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50992" y="57881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Back-Translation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992" y="615391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Translate output back to source, compare with original. Catches meaning drift.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 Output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What the pipeline actually produces — real output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9496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3949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875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SRT Subtitle File  (course_hin.srt)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00:00:02,450 --&gt; 00:00:06,120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922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यह पाठ्यक्रम आपको सरकारी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सेवाओं में दक्षता प्रदान करेगा।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9456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9572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9689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00:00:06,800 --&gt; 00:00:11,340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9806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हम आज प्रशासनिक प्रक्रियाओं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9923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के बारे में चर्चा करेंगे।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015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027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00:00:12,100 --&gt; 00:00:16,890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0390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iGOT Karmayogi प्लेटफॉर्म पर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0507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आपका स्वागत है।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960120"/>
            <a:ext cx="603504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960120"/>
            <a:ext cx="6035040" cy="34747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9875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Metadata JSON  (course_hin_metadata.json)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389888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59105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"course_id": "KB_COURSE_001",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792224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"target_lang": "hin",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993392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"target_lang_name": "Hindi",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19456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"duration_original_s": 3642.5,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395728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"segment_count": 187,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59689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"quality_summary":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798064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  "avg_score": 0.78,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999232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  "pass_rate": 0.91,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20040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  "needs_review": 12,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401568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  "avg_chrf": 0.62,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60273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  "duration_ratio": 1.08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803904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  },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005072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"provenance":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20624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    "contract": "RFB IN-KBL-543730-NC-RFB"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407408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  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60857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FFA8"/>
                </a:solidFill>
              </a:rPr>
              <a:t>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886200"/>
            <a:ext cx="1161288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3886200"/>
            <a:ext cx="11612880" cy="34747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9136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QA Certificate Checklist  (course_hin_qa_cert.docx)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3159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Linguistic Accuracy: Reviewed by qualified native Hindi expert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3159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Terminology Consistency: Domain terms translated using approved glossary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791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Content Guidelines: Free from hate speech, abuse, violence, profanity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791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Administrative Context: Administrative context retained; transliteration avoided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26694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Audio-Text Sync: Dubbed voiceover in sync with on-screen 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528" y="526694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Technical Format: Output in correct format per KB technical standards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3296" y="526694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✓ No Mixed Languages: Content does not mix multiple languages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Delivery Timeline — 11-Month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KB tender payment milestones · Monthly delivery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291839"/>
            <a:ext cx="914400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97179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50h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Inception Report
+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3312" y="3163824"/>
            <a:ext cx="914400" cy="1408176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8437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55h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Pilot: 5 langs
+ QA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2303" y="2011679"/>
            <a:ext cx="914400" cy="25603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2303" y="16916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100h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3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3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Scale to
10 languages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11296" y="1371600"/>
            <a:ext cx="914400" cy="32004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10515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125h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Full 22 langs
operational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2011679"/>
            <a:ext cx="914400" cy="256032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16916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100h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Batch delivery
+ corrections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79" y="1371600"/>
            <a:ext cx="914400" cy="32004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79" y="10515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125h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79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Mid-contract
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2011679"/>
            <a:ext cx="914400" cy="2560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16916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100h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Continued
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27264" y="1371600"/>
            <a:ext cx="914400" cy="3200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7264" y="10515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125h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7264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7264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Fine-tune
improvements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06256" y="2011679"/>
            <a:ext cx="914400" cy="25603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16916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100h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6256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06256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Continued
delivery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5248" y="1371600"/>
            <a:ext cx="914400" cy="32004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10515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125h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5248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248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Pre-completion
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64240" y="2011679"/>
            <a:ext cx="914400" cy="2560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0" y="16916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4E"/>
                </a:solidFill>
              </a:rPr>
              <a:t>100h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4E"/>
                </a:solidFill>
              </a:rPr>
              <a:t>M11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49377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</a:rPr>
              <a:t>Final delivery
+ completion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69280"/>
            <a:ext cx="11612880" cy="50292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71500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Total: 1,105 hours  ×  22 languages  =  24,310 dubbed hours delivered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960120"/>
            <a:ext cx="210312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98755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294E"/>
                </a:solidFill>
              </a:rPr>
              <a:t>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294E"/>
                </a:solidFill>
              </a:rPr>
              <a:t>T0+15 days
Inception Report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88920" y="960120"/>
            <a:ext cx="210312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8920" y="98755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294E"/>
                </a:solidFill>
              </a:rPr>
              <a:t>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294E"/>
                </a:solidFill>
              </a:rPr>
              <a:t>Month 3
First delivery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960120"/>
            <a:ext cx="210312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0" y="98755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294E"/>
                </a:solidFill>
              </a:rPr>
              <a:t>20%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0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294E"/>
                </a:solidFill>
              </a:rPr>
              <a:t>Month 6
Mid-contract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59" y="960120"/>
            <a:ext cx="210312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2359" y="98755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294E"/>
                </a:solidFill>
              </a:rP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359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294E"/>
                </a:solidFill>
              </a:rPr>
              <a:t>Month 9
Continued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84080" y="960120"/>
            <a:ext cx="210312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98755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294E"/>
                </a:solidFill>
              </a:rPr>
              <a:t>25%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294E"/>
                </a:solidFill>
              </a:rPr>
              <a:t>Month 11
Completion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Models, Deployment &amp; System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All models run locally — download once, run forever offline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875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9875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9875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9875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faster-whisper large-v3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models/indic_asr/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~3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ASR — all 22 langs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55648"/>
            <a:ext cx="1161288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IndicTrans2 en_indic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models/indic_tr/en_indic/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~1.2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Eng → Indic translation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39696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8541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IndicTrans2 indic_en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218541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models/indic_tr/indic_en/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218541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~1.2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18541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Indic → Eng translation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23744"/>
            <a:ext cx="1161288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56946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IndicTrans2 indic_indic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256946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models/indic_tr/indic_indic/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256946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~1.2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56946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Indic → Indic translation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07791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95351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Parler-TTS Indic Large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3552" y="295351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models/indic_parler_tts_large/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295351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~3.6 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295351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TTS primary (Devanagari)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291840"/>
            <a:ext cx="1161288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337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Parler-TTS Indic Mini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3337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models/indic_parler_tts/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344" y="3337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~1.5 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9136" y="3337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TTS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675887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7216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SeamlessM4Tv2 Large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3552" y="37216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models/seamless/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37216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~10 GB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89136" y="3721607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Translation + S2ST fallback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059935"/>
            <a:ext cx="1161288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10565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NLLB-200 distilled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73552" y="410565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models/nllb/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1344" y="410565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~2.4 GB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89136" y="410565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Translation final fallback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443983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4897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MMS-TTS standalone VITS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4897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models/mms_standalone/&lt;lang&gt;/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1344" y="44897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~0.1 GB each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89136" y="44897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TTS Dravidian/Bengali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828031"/>
            <a:ext cx="1161288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87375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Flan-T5 Large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73552" y="487375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models/flan_t5_large/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81344" y="487375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~3 GB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89136" y="487375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Parler text encoder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321808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5321808"/>
            <a:ext cx="91440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5367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System Requirements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" y="576072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GPU: NVIDIA RTX 3090 / A6000 (24GB VRAM)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912" y="594360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RAM: 32 GB system RAM minimum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" y="61264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Storage: 50 GB free (models + datasets)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" y="630936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OS: Windows 10/11 or Ubuntu 20.04+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" y="649224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Python 3.10–3.12  |  CUDA 11.8+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2160" y="5321808"/>
            <a:ext cx="603504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52160" y="5321808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16752" y="53675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900"/>
                </a:solidFill>
              </a:rPr>
              <a:t>Quick Start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16752" y="57607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pip install -r requirements.txt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16752" y="5961888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python scripts/download_models.py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16752" y="616305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python ui/app.py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16752" y="6364224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A8"/>
                </a:solidFill>
              </a:rPr>
              <a:t># Open http://localhost:7860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294E"/>
                </a:solidFill>
              </a:rPr>
              <a:t>KB Tender Compliance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§3.1 Content Exclusions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PM/President speeches and YouTube-only content automatically blocked. Pattern matched against full transcript before any processing begins.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6012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33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§4.2 CBP Portal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3560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Auto-upload: MP4, MP3, SRT, VTT, DOCX (quiz), XLSX (metadata). Set CBP_USERNAME + CBP_PASSWORD in .env. Use --upload-cbp flag.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37744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§5.1B Duration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5292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Dubbed output &gt;20% longer triggers KB approval warning. Fit-to-slot (1.35×) minimises overrun. Ratio stored in metadata 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7744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50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SoW 3.4 Output Formats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5292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MP4 · MP3 · SRT · VTT · DOCX quiz · XLSX quiz · DOCX metadata · XLSX metadata per language.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67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Deliverable 4.5.iv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7024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Correction &amp; Closure Report per course per language. Issues flagged by KB, corrective actions, resolution status.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9476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67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Deliverable 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7024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Consolidated Completion Report at contract end. All courses × languages, compliance certificate, standardised glossary.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1208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21208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85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Payment Milestone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8756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Inception Report (T0+15 days) — translation plan, AI stack, monthly schedule, QA process. Triggers first 15% payment.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212080"/>
            <a:ext cx="5669280" cy="1298448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212080"/>
            <a:ext cx="109728" cy="12984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285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98% Accuracy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8756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Automated scoring (heuristic + ChrF + back-translation). Self-certification QA report per course. Human review UI for corrections.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Team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</a:rPr>
              <a:t>Dedicated team for the full 11-month contract 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743200" cy="2926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AI/ML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00200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Pipeline development
Model fine-tuning
GPU infrastructure
Performance optimisation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60120"/>
            <a:ext cx="2743200" cy="29260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0241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Language Experts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1600200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22 language reviewers
Glossary curation
QA certification
Human correction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2743200" cy="29260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0241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DevOps / 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On-premise deployment
GPU cluster management
Backup &amp; recovery
Security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960120"/>
            <a:ext cx="2743200" cy="29260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0241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Project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KB tender coordination
Monthly reporting
CBP portal uploads
Stakeholder communication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11612880" cy="3657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96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Support &amp; SLA Commitments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914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645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Response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&lt; 4 hours for critical issues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57200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4572000"/>
            <a:ext cx="914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1" y="4645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Bug Fixes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1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&lt; 24 hours for pipeline 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57200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572000"/>
            <a:ext cx="914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645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Model Updates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109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Quarterly fine-tune refresh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7784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577840"/>
            <a:ext cx="914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6509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Data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016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100% on-premise, no data leaves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557784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59" y="5577840"/>
            <a:ext cx="914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1" y="56509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Uptime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1" y="6016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99.5% during business hours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557784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5577840"/>
            <a:ext cx="914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56509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4E"/>
                </a:solidFill>
              </a:rPr>
              <a:t>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6016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Monthly delivery reports to KB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iGOT Karmayogi  |  RFB IN-KBL-543730-NC-RFB  |  KB Translation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64592" cy="663854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0" y="109728"/>
            <a:ext cx="164592" cy="663854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D700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108960"/>
            <a:ext cx="7616952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246888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6499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22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41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All scheduled Indian languages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291840"/>
            <a:ext cx="2468880" cy="1371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36499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100%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041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 internet, no API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91840"/>
            <a:ext cx="2468880" cy="13716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6499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99% Cost 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41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vs manual dubbing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291840"/>
            <a:ext cx="2468880" cy="13716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36499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0416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Full delivery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70C0"/>
                </a:solidFill>
              </a:rPr>
              <a:t>iGOT Karmayogi  |  RFB IN-KBL-543730-NC-RFB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KB Translation System — End-to-End Offline Dubbing for All 22 Scheduled Indian Languages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faster-whisper  ·  IndicTrans2  ·  SeamlessM4T  ·  NLLB-200  ·  Parler-TTS  ·  MMS-TTS  ·  XTTS-v2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